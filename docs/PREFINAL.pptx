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98" r:id="rId3"/>
    <p:sldId id="299" r:id="rId4"/>
    <p:sldId id="293" r:id="rId5"/>
    <p:sldId id="300" r:id="rId6"/>
    <p:sldId id="256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27" autoAdjust="0"/>
  </p:normalViewPr>
  <p:slideViewPr>
    <p:cSldViewPr snapToGrid="0" snapToObjects="1">
      <p:cViewPr varScale="1">
        <p:scale>
          <a:sx n="80" d="100"/>
          <a:sy n="80" d="100"/>
        </p:scale>
        <p:origin x="754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8105C-DA3A-1766-E15F-4ED3530A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10218900-AF5A-C210-B686-DED53CA8B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CC23BF50-D6C7-DFF0-80B7-B80B07B0B9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07EE99D-A441-BEDF-5881-F9D59E27F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49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DE8F-FCDE-5D4E-76F0-FD7442FC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B5468D9F-9A10-5F62-A5D5-08C9EF79E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E71861BA-F7A0-701C-9CA0-06599DE467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320F43B0-2250-5097-1757-1616FE411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15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98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oundationVision/ByteTrack?utm_source=chatgpt.com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5.0/?utm_source=chatgpt.com" TargetMode="External"/><Relationship Id="rId5" Type="http://schemas.openxmlformats.org/officeDocument/2006/relationships/hyperlink" Target="https://github.com/Tecorigin/EasyOCR?utm_source=chatgpt.com" TargetMode="External"/><Relationship Id="rId4" Type="http://schemas.openxmlformats.org/officeDocument/2006/relationships/hyperlink" Target="https://docs.ultralytics.com/models/yolo11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324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91696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26127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City-Wide AI Engine for Multi-Camera ANPR Trajectory Tracking and Urban Traffic Analytics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INNOVISION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CF941-68BD-AA0B-EA03-85450E620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AE00CA-D1C3-C3A2-7254-5298B6342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14BA5BA0-75C6-0D61-2ED2-4917EFF8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/>
              <a:t>IDEA/APPROACH DETAILS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>
            <a:extLst>
              <a:ext uri="{FF2B5EF4-FFF2-40B4-BE49-F238E27FC236}">
                <a16:creationId xmlns:a16="http://schemas.microsoft.com/office/drawing/2014/main" id="{E9F2A269-4F28-0BA3-C0E7-D7ABF68C9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94" y="1138692"/>
            <a:ext cx="5554862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u="sng" dirty="0">
                <a:solidFill>
                  <a:schemeClr val="accent1"/>
                </a:solidFill>
              </a:rPr>
              <a:t>PROPOSED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Developed a city-wide AI engine that transforms existing CCTV feeds into a searchable vehicle intelligence system for multi-camera ANPR, trajectory tracking and urban traffic analytics.</a:t>
            </a:r>
            <a:endParaRPr lang="en-IN" sz="15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Vehicle detection and classification</a:t>
            </a:r>
            <a:r>
              <a:rPr lang="en-IN" sz="1500" dirty="0"/>
              <a:t> using </a:t>
            </a:r>
            <a:r>
              <a:rPr lang="en-IN" sz="1500" b="1" dirty="0"/>
              <a:t>YOLO11</a:t>
            </a:r>
            <a:r>
              <a:rPr lang="en-IN" sz="1500" dirty="0"/>
              <a:t> for cars, motorcycles/two-wheelers, buses and trucks.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Multi-object tracking</a:t>
            </a:r>
            <a:r>
              <a:rPr lang="en-IN" sz="1500" dirty="0"/>
              <a:t> using </a:t>
            </a:r>
            <a:r>
              <a:rPr lang="en-IN" sz="1500" b="1" dirty="0" err="1"/>
              <a:t>ByteTrack</a:t>
            </a:r>
            <a:r>
              <a:rPr lang="en-IN" sz="1500" dirty="0"/>
              <a:t> to maintain persistent vehicle identities across frames.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Automatic number plate recognition (ANPR)</a:t>
            </a:r>
            <a:r>
              <a:rPr lang="en-IN" sz="1500" dirty="0"/>
              <a:t> using selective plate detection and </a:t>
            </a:r>
            <a:r>
              <a:rPr lang="en-IN" sz="1500" b="1" dirty="0" err="1"/>
              <a:t>EasyOCR</a:t>
            </a:r>
            <a:r>
              <a:rPr lang="en-IN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Quality-gated OCR</a:t>
            </a:r>
            <a:r>
              <a:rPr lang="en-IN" sz="1500" dirty="0"/>
              <a:t> filters plate crops based on </a:t>
            </a:r>
            <a:r>
              <a:rPr lang="en-IN" sz="1500" b="1" dirty="0"/>
              <a:t>sharpness, contrast and size</a:t>
            </a:r>
            <a:r>
              <a:rPr lang="en-IN" sz="1500" dirty="0"/>
              <a:t> before recognition.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Temporal voting</a:t>
            </a:r>
            <a:r>
              <a:rPr lang="en-IN" sz="1500" dirty="0"/>
              <a:t> combines multiple OCR readings to confirm a reliable plate instead of trusting a single frame.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Cross-camera vehicle search</a:t>
            </a:r>
            <a:r>
              <a:rPr lang="en-IN" sz="1500" dirty="0"/>
              <a:t> allows a specific plate to be queried across the camera network.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GIS-based dashboard</a:t>
            </a:r>
            <a:r>
              <a:rPr lang="en-IN" sz="1500" dirty="0"/>
              <a:t> visualizes vehicle locations, chronological trajectories and camera-wise sightings.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Aggregated vehicle data provides </a:t>
            </a:r>
            <a:r>
              <a:rPr lang="en-IN" sz="1500" b="1" dirty="0"/>
              <a:t>traffic density, flow-direction, trajectory and congestion analytics</a:t>
            </a:r>
            <a:r>
              <a:rPr lang="en-IN" sz="15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Designed for deployment from </a:t>
            </a:r>
            <a:r>
              <a:rPr lang="en-IN" sz="1500" b="1" dirty="0"/>
              <a:t>single-camera → multi-camera → zone-level → city-wide</a:t>
            </a:r>
            <a:r>
              <a:rPr lang="en-IN" sz="1500" dirty="0"/>
              <a:t> scale.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208CA-7FFC-54BA-3286-352B56245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C454EAB-B364-5427-E6E7-32BBF149A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243D93-94E8-F51C-16E2-AA3C69530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C4F9EA-2146-439A-1334-6510F82FCE80}"/>
              </a:ext>
            </a:extLst>
          </p:cNvPr>
          <p:cNvSpPr/>
          <p:nvPr/>
        </p:nvSpPr>
        <p:spPr>
          <a:xfrm>
            <a:off x="187666" y="1143000"/>
            <a:ext cx="5619892" cy="5167898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9E26444C-F7C8-F051-6246-EFC5C4A656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BDE50B-17E7-E52C-16E5-3637C727E557}"/>
              </a:ext>
            </a:extLst>
          </p:cNvPr>
          <p:cNvSpPr txBox="1"/>
          <p:nvPr/>
        </p:nvSpPr>
        <p:spPr>
          <a:xfrm>
            <a:off x="6250199" y="571500"/>
            <a:ext cx="56084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IT ADDRESSES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Isolated Camera Silos-</a:t>
            </a:r>
            <a:r>
              <a:rPr lang="en-IN" sz="1500" dirty="0"/>
              <a:t>Common </a:t>
            </a:r>
            <a:r>
              <a:rPr lang="en-IN" sz="1500" b="1" dirty="0"/>
              <a:t>vehicle/plate identity + camera ID + timestamp</a:t>
            </a:r>
            <a:r>
              <a:rPr lang="en-IN" sz="1500" dirty="0"/>
              <a:t> links vehicle sightings across </a:t>
            </a:r>
            <a:r>
              <a:rPr lang="en-IN" sz="1500" dirty="0" err="1"/>
              <a:t>cameranodes</a:t>
            </a:r>
            <a:r>
              <a:rPr lang="en-IN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Manual Vehicle Search-</a:t>
            </a:r>
            <a:r>
              <a:rPr lang="en-IN" sz="1500" dirty="0"/>
              <a:t>A </a:t>
            </a:r>
            <a:r>
              <a:rPr lang="en-IN" sz="1500" b="1" dirty="0"/>
              <a:t>single plate query</a:t>
            </a:r>
            <a:r>
              <a:rPr lang="en-IN" sz="1500" dirty="0"/>
              <a:t> retrieves relevant sightings across the camera network instead of manual footage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No City-Level Traffic Intelligence-</a:t>
            </a:r>
            <a:r>
              <a:rPr lang="en-IN" sz="1500" dirty="0"/>
              <a:t>Aggregated detections generate </a:t>
            </a:r>
            <a:r>
              <a:rPr lang="en-IN" sz="1500" b="1" dirty="0"/>
              <a:t>density, flow-direction, trajectory and congestion analytics</a:t>
            </a:r>
            <a:r>
              <a:rPr lang="en-IN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Unreliable OCR-Quality gating + temporal voting</a:t>
            </a:r>
            <a:r>
              <a:rPr lang="en-IN" sz="1500" dirty="0"/>
              <a:t> reduces incorrect plate identification caused by blurry, noisy or poor-quality frames.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3E7E3-1958-506D-77D7-65E6521667D2}"/>
              </a:ext>
            </a:extLst>
          </p:cNvPr>
          <p:cNvSpPr/>
          <p:nvPr/>
        </p:nvSpPr>
        <p:spPr>
          <a:xfrm>
            <a:off x="6221896" y="1140525"/>
            <a:ext cx="5608425" cy="2660154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29CA1-BC02-560C-B582-9C005EF2A277}"/>
              </a:ext>
            </a:extLst>
          </p:cNvPr>
          <p:cNvSpPr txBox="1"/>
          <p:nvPr/>
        </p:nvSpPr>
        <p:spPr>
          <a:xfrm>
            <a:off x="6221896" y="4090129"/>
            <a:ext cx="5826391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AND UNIQUENESS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 Temporal OCR Voting-</a:t>
            </a:r>
            <a:r>
              <a:rPr lang="en-IN" sz="1500" dirty="0"/>
              <a:t>Multiple OCR observations → </a:t>
            </a:r>
            <a:r>
              <a:rPr lang="en-IN" sz="1500" b="1" dirty="0"/>
              <a:t>repeated agreement → confirmed plate</a:t>
            </a:r>
            <a:endParaRPr lang="en-IN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 Cost-Aware Track Selection-</a:t>
            </a:r>
            <a:r>
              <a:rPr lang="en-IN" sz="1500" dirty="0"/>
              <a:t>Plate processing only on </a:t>
            </a:r>
            <a:r>
              <a:rPr lang="en-IN" sz="1500" b="1" dirty="0"/>
              <a:t>stable, useful tracks</a:t>
            </a:r>
            <a:r>
              <a:rPr lang="en-IN" sz="1500" dirty="0"/>
              <a:t> → reduced computational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 Quality-Gated OCR-Sharpness + contrast + size</a:t>
            </a:r>
            <a:r>
              <a:rPr lang="en-IN" sz="1500" dirty="0"/>
              <a:t> filtering → cleaner OCR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 Modular Scalability-Detection → Tracking → ANPR → API → Dashboard</a:t>
            </a:r>
            <a:r>
              <a:rPr lang="en-IN" sz="1500" dirty="0"/>
              <a:t> can be deployed and scaled independently</a:t>
            </a:r>
            <a:r>
              <a:rPr lang="en-IN" dirty="0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06A783-51B8-C96B-1118-351BFB691C29}"/>
              </a:ext>
            </a:extLst>
          </p:cNvPr>
          <p:cNvSpPr/>
          <p:nvPr/>
        </p:nvSpPr>
        <p:spPr>
          <a:xfrm>
            <a:off x="6214615" y="4048739"/>
            <a:ext cx="5622988" cy="2262158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29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952CA-CF84-9AA0-3246-62156BF7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9045972-650B-DDD7-204E-0D0AD0B66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D4D66480-38D7-BC39-26DF-225FB43F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54E13-07AD-1882-8A3A-5B246995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88737B-E329-B50A-4A9F-3BBD19D1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B5181B-3510-901C-F5C8-86990AEED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8F7C3-7469-E3B6-8807-AACEBCC66762}"/>
              </a:ext>
            </a:extLst>
          </p:cNvPr>
          <p:cNvSpPr txBox="1"/>
          <p:nvPr/>
        </p:nvSpPr>
        <p:spPr>
          <a:xfrm>
            <a:off x="7237026" y="5847469"/>
            <a:ext cx="401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ARCHTITECHURE PIPELINE</a:t>
            </a: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16A028D1-DF22-F516-DAC0-4BDF887E0E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56898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B3B885-0120-1001-28CB-6818E1E09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522329"/>
              </p:ext>
            </p:extLst>
          </p:nvPr>
        </p:nvGraphicFramePr>
        <p:xfrm>
          <a:off x="329771" y="1051374"/>
          <a:ext cx="6470104" cy="517502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46729">
                  <a:extLst>
                    <a:ext uri="{9D8B030D-6E8A-4147-A177-3AD203B41FA5}">
                      <a16:colId xmlns:a16="http://schemas.microsoft.com/office/drawing/2014/main" val="3627693847"/>
                    </a:ext>
                  </a:extLst>
                </a:gridCol>
                <a:gridCol w="4323375">
                  <a:extLst>
                    <a:ext uri="{9D8B030D-6E8A-4147-A177-3AD203B41FA5}">
                      <a16:colId xmlns:a16="http://schemas.microsoft.com/office/drawing/2014/main" val="1534515333"/>
                    </a:ext>
                  </a:extLst>
                </a:gridCol>
              </a:tblGrid>
              <a:tr h="345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  <a:endParaRPr lang="en-IN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Role in the System</a:t>
                      </a:r>
                      <a:endParaRPr lang="en-IN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527413"/>
                  </a:ext>
                </a:extLst>
              </a:tr>
              <a:tr h="535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YOLO11 / </a:t>
                      </a:r>
                      <a:r>
                        <a:rPr lang="en-IN" sz="1400" dirty="0" err="1"/>
                        <a:t>Ultralytics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Real-time vehicle detection &amp; classification — identifies cars, bikes, buses and trucks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809202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 err="1"/>
                        <a:t>ByteTrack</a:t>
                      </a:r>
                      <a:endParaRPr lang="en-IN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Multi-object tracking — maintains persistent vehicle IDs across frames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47509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  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Video &amp; image processing — frame handling, cropping and preprocessing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4360606"/>
                  </a:ext>
                </a:extLst>
              </a:tr>
              <a:tr h="487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 err="1"/>
                        <a:t>EasyOCR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Number plate recognition — extracts plate text from detected plate regions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410774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Backend API layer — serves vehicle records, search and traffic analytics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842820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     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GIS dashboard — interactive vehicle search, trajectory and traffic visualization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35105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   </a:t>
                      </a:r>
                      <a:r>
                        <a:rPr lang="en-IN" sz="1400" dirty="0" err="1"/>
                        <a:t>PostGIS</a:t>
                      </a:r>
                      <a:r>
                        <a:rPr lang="en-IN" sz="1400" dirty="0"/>
                        <a:t> /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Vehicle, camera and geospatial da</a:t>
                      </a:r>
                      <a:r>
                        <a:rPr lang="en-US" sz="1400" dirty="0"/>
                        <a:t>Data storage &amp; geospatial queries — vehicle, camera, timestamp and location data</a:t>
                      </a:r>
                      <a:r>
                        <a:rPr lang="en-IN" sz="1400" dirty="0"/>
                        <a:t>ta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5098896"/>
                  </a:ext>
                </a:extLst>
              </a:tr>
              <a:tr h="604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          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Core AI/CV development — integrates detection, tracking and ANPR pipeline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588401"/>
                  </a:ext>
                </a:extLst>
              </a:tr>
            </a:tbl>
          </a:graphicData>
        </a:graphic>
      </p:graphicFrame>
      <p:pic>
        <p:nvPicPr>
          <p:cNvPr id="13" name="Picture 12" descr="Ultralytics YOLO - Apps on Google Play">
            <a:extLst>
              <a:ext uri="{FF2B5EF4-FFF2-40B4-BE49-F238E27FC236}">
                <a16:creationId xmlns:a16="http://schemas.microsoft.com/office/drawing/2014/main" id="{19B3E752-DD01-53E9-33DB-A5E49ABA7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66" y="1508963"/>
            <a:ext cx="360484" cy="3604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6BC598-A8A1-5D5A-CC67-3A8D4C186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888" y="2619375"/>
            <a:ext cx="381423" cy="504825"/>
          </a:xfrm>
          <a:prstGeom prst="rect">
            <a:avLst/>
          </a:prstGeom>
        </p:spPr>
      </p:pic>
      <p:pic>
        <p:nvPicPr>
          <p:cNvPr id="15" name="Picture 14" descr="Python logo - free Icon PNG, SVG">
            <a:extLst>
              <a:ext uri="{FF2B5EF4-FFF2-40B4-BE49-F238E27FC236}">
                <a16:creationId xmlns:a16="http://schemas.microsoft.com/office/drawing/2014/main" id="{BA69D01F-EDB3-A7BD-7D4B-079E51963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79" y="5544285"/>
            <a:ext cx="503239" cy="503239"/>
          </a:xfrm>
          <a:prstGeom prst="rect">
            <a:avLst/>
          </a:prstGeom>
        </p:spPr>
      </p:pic>
      <p:pic>
        <p:nvPicPr>
          <p:cNvPr id="16" name="Picture 15" descr="Index of /postgis/logo_suite/stock_elephant/">
            <a:extLst>
              <a:ext uri="{FF2B5EF4-FFF2-40B4-BE49-F238E27FC236}">
                <a16:creationId xmlns:a16="http://schemas.microsoft.com/office/drawing/2014/main" id="{84AD260D-D89B-E5FF-7C51-174C14601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612" y="4896360"/>
            <a:ext cx="519972" cy="504826"/>
          </a:xfrm>
          <a:prstGeom prst="rect">
            <a:avLst/>
          </a:prstGeom>
        </p:spPr>
      </p:pic>
      <p:pic>
        <p:nvPicPr>
          <p:cNvPr id="17" name="Picture 16" descr="React original wordmark logo - free Icon PNG, SVG">
            <a:extLst>
              <a:ext uri="{FF2B5EF4-FFF2-40B4-BE49-F238E27FC236}">
                <a16:creationId xmlns:a16="http://schemas.microsoft.com/office/drawing/2014/main" id="{51B327B8-8315-0532-BEA9-FB2AD432B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466" y="4319985"/>
            <a:ext cx="504826" cy="504826"/>
          </a:xfrm>
          <a:prstGeom prst="rect">
            <a:avLst/>
          </a:prstGeom>
        </p:spPr>
      </p:pic>
      <p:pic>
        <p:nvPicPr>
          <p:cNvPr id="19" name="Picture 18" descr="TypeScript Logo PNG, AI, EPS, CDR, PDF, SVG - iconLogoVector">
            <a:extLst>
              <a:ext uri="{FF2B5EF4-FFF2-40B4-BE49-F238E27FC236}">
                <a16:creationId xmlns:a16="http://schemas.microsoft.com/office/drawing/2014/main" id="{97B8A153-3A43-94EB-1389-4112E5EC2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785" y="4211702"/>
            <a:ext cx="780415" cy="780415"/>
          </a:xfrm>
          <a:prstGeom prst="rect">
            <a:avLst/>
          </a:prstGeom>
        </p:spPr>
      </p:pic>
      <p:pic>
        <p:nvPicPr>
          <p:cNvPr id="31" name="Picture 30" descr="GitHub - mjhea0/awesome-fastapi: A curated list of awesome things related  to FastAPI · GitHub">
            <a:extLst>
              <a:ext uri="{FF2B5EF4-FFF2-40B4-BE49-F238E27FC236}">
                <a16:creationId xmlns:a16="http://schemas.microsoft.com/office/drawing/2014/main" id="{DE988647-FE42-7508-16C1-49EE9FBC1A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612" y="3713473"/>
            <a:ext cx="996457" cy="49822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19FB706-0BBF-FD5D-3174-D7AF0DB24B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8992" y="1063837"/>
            <a:ext cx="4729290" cy="485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5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244933" y="681285"/>
            <a:ext cx="51816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Technical Feasibility </a:t>
            </a:r>
          </a:p>
          <a:p>
            <a:pPr lvl="0"/>
            <a:r>
              <a:rPr lang="en-IN" sz="1400" dirty="0"/>
              <a:t>Built using </a:t>
            </a:r>
            <a:r>
              <a:rPr lang="en-IN" sz="1400" b="1" dirty="0"/>
              <a:t>open-source AI/CV technologies</a:t>
            </a:r>
            <a:r>
              <a:rPr lang="en-IN" sz="1400" dirty="0"/>
              <a:t> — YOLO11, </a:t>
            </a:r>
            <a:r>
              <a:rPr lang="en-IN" sz="1400" dirty="0" err="1"/>
              <a:t>ByteTrack</a:t>
            </a:r>
            <a:r>
              <a:rPr lang="en-IN" sz="1400" dirty="0"/>
              <a:t>, </a:t>
            </a:r>
            <a:r>
              <a:rPr lang="en-IN" sz="1400" dirty="0" err="1"/>
              <a:t>EasyOCR</a:t>
            </a:r>
            <a:r>
              <a:rPr lang="en-IN" sz="1400" dirty="0"/>
              <a:t> and OpenCV.</a:t>
            </a:r>
          </a:p>
          <a:p>
            <a:pPr lvl="0"/>
            <a:r>
              <a:rPr lang="en-IN" sz="1400" dirty="0"/>
              <a:t>Works with </a:t>
            </a:r>
            <a:r>
              <a:rPr lang="en-IN" sz="1400" b="1" dirty="0"/>
              <a:t>existing CCTV/video feeds</a:t>
            </a:r>
            <a:r>
              <a:rPr lang="en-IN" sz="1400" dirty="0"/>
              <a:t>, reducing the need for new camera infrastructure.</a:t>
            </a:r>
          </a:p>
          <a:p>
            <a:pPr lvl="0"/>
            <a:r>
              <a:rPr lang="en-IN" sz="1400" b="1" dirty="0"/>
              <a:t>Modular pipeline</a:t>
            </a:r>
            <a:r>
              <a:rPr lang="en-IN" sz="1400" dirty="0"/>
              <a:t> allows individual components to be improved or replaced without redesigning the entire system.</a:t>
            </a:r>
          </a:p>
          <a:p>
            <a:r>
              <a:rPr lang="en-IN" sz="1400" b="1" dirty="0"/>
              <a:t>Deployment Feasibility</a:t>
            </a:r>
          </a:p>
          <a:p>
            <a:pPr lvl="0"/>
            <a:r>
              <a:rPr lang="en-IN" sz="1400" dirty="0"/>
              <a:t>Can begin with a </a:t>
            </a:r>
            <a:r>
              <a:rPr lang="en-IN" sz="1400" b="1" dirty="0"/>
              <a:t>single-camera prototype</a:t>
            </a:r>
            <a:r>
              <a:rPr lang="en-IN" sz="1400" dirty="0"/>
              <a:t> and expand to multiple cameras.</a:t>
            </a:r>
          </a:p>
          <a:p>
            <a:pPr lvl="0"/>
            <a:r>
              <a:rPr lang="en-IN" sz="1400" b="1" dirty="0"/>
              <a:t>CPU-based processing</a:t>
            </a:r>
            <a:r>
              <a:rPr lang="en-IN" sz="1400" dirty="0"/>
              <a:t> can support initial pilots, with GPU acceleration available as deployment scale increases.</a:t>
            </a:r>
          </a:p>
          <a:p>
            <a:pPr lvl="0"/>
            <a:r>
              <a:rPr lang="en-IN" sz="1400" dirty="0"/>
              <a:t>GIS dashboard provides a centralized interface for </a:t>
            </a:r>
            <a:r>
              <a:rPr lang="en-IN" sz="1400" b="1" dirty="0"/>
              <a:t>vehicle search, trajectory and traffic analytics</a:t>
            </a:r>
            <a:r>
              <a:rPr lang="en-IN" sz="1400" dirty="0"/>
              <a:t>.</a:t>
            </a:r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  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1" name="Caption Trajectory Map"/>
          <p:cNvSpPr txBox="1"/>
          <p:nvPr/>
        </p:nvSpPr>
        <p:spPr>
          <a:xfrm>
            <a:off x="9780086" y="4486892"/>
            <a:ext cx="2249850" cy="2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endParaRPr lang="en-US" sz="1100" i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143D7C-9456-F124-CE9F-BD9D3C2FBEAC}"/>
              </a:ext>
            </a:extLst>
          </p:cNvPr>
          <p:cNvSpPr txBox="1"/>
          <p:nvPr/>
        </p:nvSpPr>
        <p:spPr>
          <a:xfrm>
            <a:off x="575449" y="4142422"/>
            <a:ext cx="34340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b="1" dirty="0">
                <a:solidFill>
                  <a:schemeClr val="accent1"/>
                </a:solidFill>
              </a:rPr>
              <a:t> COST VIABILITY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LOW SOFTWARE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Open-source AI frameworks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Existing CCTV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 Deployable on local/cloud computer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4CB11C-82D4-A3B1-D8FC-CDACCCA8D45A}"/>
              </a:ext>
            </a:extLst>
          </p:cNvPr>
          <p:cNvSpPr txBox="1"/>
          <p:nvPr/>
        </p:nvSpPr>
        <p:spPr>
          <a:xfrm>
            <a:off x="6400800" y="2001520"/>
            <a:ext cx="5181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/>
                </a:solidFill>
              </a:rPr>
              <a:t>Operational  ROADMAP </a:t>
            </a:r>
          </a:p>
          <a:p>
            <a:pPr algn="ctr"/>
            <a:r>
              <a:rPr lang="en-US" dirty="0"/>
              <a:t>PROTOTYPE</a:t>
            </a:r>
          </a:p>
          <a:p>
            <a:pPr algn="ctr"/>
            <a:r>
              <a:rPr lang="en-US" dirty="0"/>
              <a:t>   ↓</a:t>
            </a:r>
          </a:p>
          <a:p>
            <a:pPr algn="ctr"/>
            <a:r>
              <a:rPr lang="en-US" dirty="0"/>
              <a:t>1 CAMERA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MULTI-CAMERA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ZONE LEVEL  </a:t>
            </a:r>
          </a:p>
          <a:p>
            <a:pPr algn="ctr"/>
            <a:r>
              <a:rPr lang="en-US" dirty="0"/>
              <a:t> ↓</a:t>
            </a:r>
          </a:p>
          <a:p>
            <a:pPr algn="ctr"/>
            <a:r>
              <a:rPr lang="en-US" dirty="0"/>
              <a:t>CITY-WIDE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94853-29BC-CF56-C2C3-8DA2414C3ECD}"/>
              </a:ext>
            </a:extLst>
          </p:cNvPr>
          <p:cNvSpPr/>
          <p:nvPr/>
        </p:nvSpPr>
        <p:spPr>
          <a:xfrm>
            <a:off x="329773" y="1292863"/>
            <a:ext cx="5332164" cy="249681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4091A-DBD7-7432-C8F0-D002E8F5F374}"/>
              </a:ext>
            </a:extLst>
          </p:cNvPr>
          <p:cNvSpPr/>
          <p:nvPr/>
        </p:nvSpPr>
        <p:spPr>
          <a:xfrm>
            <a:off x="6379499" y="1881405"/>
            <a:ext cx="5332164" cy="3106143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0E5AA-A1E2-07A9-4F37-2ED57A3CAED3}"/>
              </a:ext>
            </a:extLst>
          </p:cNvPr>
          <p:cNvSpPr/>
          <p:nvPr/>
        </p:nvSpPr>
        <p:spPr>
          <a:xfrm>
            <a:off x="329773" y="4114402"/>
            <a:ext cx="5332164" cy="200707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 descr="Your startup LOGO">
            <a:extLst>
              <a:ext uri="{FF2B5EF4-FFF2-40B4-BE49-F238E27FC236}">
                <a16:creationId xmlns:a16="http://schemas.microsoft.com/office/drawing/2014/main" id="{3A5F7C86-42C0-B083-0EA8-9A18D4061C3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 txBox="1"/>
          <p:nvPr/>
        </p:nvSpPr>
        <p:spPr>
          <a:xfrm>
            <a:off x="2487168" y="8229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THE FEASIBILITY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078992"/>
            <a:ext cx="3675888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D8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1312164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3263" y="1411651"/>
            <a:ext cx="163860" cy="163860"/>
          </a:xfrm>
          <a:prstGeom prst="roundRect">
            <a:avLst>
              <a:gd name="adj" fmla="val 16741"/>
            </a:avLst>
          </a:prstGeom>
          <a:solidFill>
            <a:srgbClr val="6B4FA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5645" y="1411651"/>
            <a:ext cx="163860" cy="163860"/>
          </a:xfrm>
          <a:prstGeom prst="roundRect">
            <a:avLst>
              <a:gd name="adj" fmla="val 16741"/>
            </a:avLst>
          </a:prstGeom>
          <a:solidFill>
            <a:srgbClr val="6B4FA0"/>
          </a:solidFill>
          <a:ln/>
        </p:spPr>
      </p:sp>
      <p:sp>
        <p:nvSpPr>
          <p:cNvPr id="14" name="Shape 12"/>
          <p:cNvSpPr/>
          <p:nvPr/>
        </p:nvSpPr>
        <p:spPr>
          <a:xfrm>
            <a:off x="593263" y="1634033"/>
            <a:ext cx="163860" cy="163860"/>
          </a:xfrm>
          <a:prstGeom prst="roundRect">
            <a:avLst>
              <a:gd name="adj" fmla="val 16741"/>
            </a:avLst>
          </a:prstGeom>
          <a:solidFill>
            <a:srgbClr val="6B4F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5" y="1634033"/>
            <a:ext cx="163860" cy="163860"/>
          </a:xfrm>
          <a:prstGeom prst="roundRect">
            <a:avLst>
              <a:gd name="adj" fmla="val 16741"/>
            </a:avLst>
          </a:prstGeom>
          <a:solidFill>
            <a:srgbClr val="6B4F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70432" y="1170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142646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tracking, ANPR, API &amp; dashboard can be built and deployed independently.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078992"/>
            <a:ext cx="3675888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D8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312164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08871" y="1522842"/>
            <a:ext cx="362834" cy="234086"/>
          </a:xfrm>
          <a:prstGeom prst="roundRect">
            <a:avLst>
              <a:gd name="adj" fmla="val 15625"/>
            </a:avLst>
          </a:prstGeom>
          <a:solidFill>
            <a:srgbClr val="6B4FA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4978" y="1452616"/>
            <a:ext cx="130620" cy="74908"/>
          </a:xfrm>
          <a:prstGeom prst="roundRect">
            <a:avLst>
              <a:gd name="adj" fmla="val 24414"/>
            </a:avLst>
          </a:prstGeom>
          <a:solidFill>
            <a:srgbClr val="6B4FA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08358" y="1557955"/>
            <a:ext cx="163860" cy="1638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43471" y="1593068"/>
            <a:ext cx="93635" cy="93635"/>
          </a:xfrm>
          <a:prstGeom prst="ellipse">
            <a:avLst/>
          </a:prstGeom>
          <a:solidFill>
            <a:srgbClr val="6B4F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74336" y="1170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CCTV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142646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video infrastructure for pilot deployment.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73568" y="1078992"/>
            <a:ext cx="3675888" cy="1051560"/>
          </a:xfrm>
          <a:prstGeom prst="roundRect">
            <a:avLst>
              <a:gd name="adj" fmla="val 5217"/>
            </a:avLst>
          </a:prstGeom>
          <a:solidFill>
            <a:srgbClr val="F7F7FB"/>
          </a:solidFill>
          <a:ln w="12700">
            <a:solidFill>
              <a:srgbClr val="D8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01584" y="1312164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12775" y="1417503"/>
            <a:ext cx="362834" cy="93635"/>
          </a:xfrm>
          <a:prstGeom prst="roundRect">
            <a:avLst>
              <a:gd name="adj" fmla="val 19531"/>
            </a:avLst>
          </a:prstGeom>
          <a:solidFill>
            <a:srgbClr val="6B4FA0"/>
          </a:solidFill>
          <a:ln/>
        </p:spPr>
      </p:sp>
      <p:sp>
        <p:nvSpPr>
          <p:cNvPr id="29" name="Shape 27"/>
          <p:cNvSpPr/>
          <p:nvPr/>
        </p:nvSpPr>
        <p:spPr>
          <a:xfrm>
            <a:off x="8247888" y="1557955"/>
            <a:ext cx="292608" cy="93635"/>
          </a:xfrm>
          <a:prstGeom prst="roundRect">
            <a:avLst>
              <a:gd name="adj" fmla="val 19531"/>
            </a:avLst>
          </a:prstGeom>
          <a:solidFill>
            <a:srgbClr val="6B4FA0"/>
          </a:solidFill>
          <a:ln/>
        </p:spPr>
      </p:sp>
      <p:sp>
        <p:nvSpPr>
          <p:cNvPr id="30" name="Shape 28"/>
          <p:cNvSpPr/>
          <p:nvPr/>
        </p:nvSpPr>
        <p:spPr>
          <a:xfrm>
            <a:off x="8288853" y="1698407"/>
            <a:ext cx="210678" cy="93635"/>
          </a:xfrm>
          <a:prstGeom prst="roundRect">
            <a:avLst>
              <a:gd name="adj" fmla="val 19531"/>
            </a:avLst>
          </a:prstGeom>
          <a:solidFill>
            <a:srgbClr val="6B4FA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78240" y="11704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778240" y="1426464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YOLO11, ByteTrack, EasyOCR &amp; OpenCV reduce cost and lock-in.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22768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 →  STRATEGIES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2551176"/>
            <a:ext cx="4812121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 w="12700">
            <a:solidFill>
              <a:srgbClr val="F0C6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259689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2697480"/>
            <a:ext cx="256032" cy="256032"/>
          </a:xfrm>
          <a:prstGeom prst="moon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24128" y="2606040"/>
            <a:ext cx="4025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Video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" y="2825496"/>
            <a:ext cx="4025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• rain • glare • blur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69321" y="2715768"/>
            <a:ext cx="365760" cy="219456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40" name="Shape 38"/>
          <p:cNvSpPr/>
          <p:nvPr/>
        </p:nvSpPr>
        <p:spPr>
          <a:xfrm>
            <a:off x="5726521" y="2551176"/>
            <a:ext cx="6096671" cy="548640"/>
          </a:xfrm>
          <a:prstGeom prst="roundRect">
            <a:avLst>
              <a:gd name="adj" fmla="val 10000"/>
            </a:avLst>
          </a:prstGeom>
          <a:solidFill>
            <a:srgbClr val="E9F7EE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63681" y="2596896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73409" y="2706624"/>
            <a:ext cx="237744" cy="237744"/>
          </a:xfrm>
          <a:prstGeom prst="funnel">
            <a:avLst/>
          </a:prstGeom>
          <a:solidFill>
            <a:srgbClr val="1E844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84889" y="2606040"/>
            <a:ext cx="53102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Filtering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384889" y="2825496"/>
            <a:ext cx="531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Sharpness • contrast • size checks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154680"/>
            <a:ext cx="4812121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 w="12700">
            <a:solidFill>
              <a:srgbClr val="F0C6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03504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209544"/>
            <a:ext cx="4025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024128" y="3429000"/>
            <a:ext cx="4025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characters, noisy reads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269321" y="3319272"/>
            <a:ext cx="365760" cy="219456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51" name="Shape 49"/>
          <p:cNvSpPr/>
          <p:nvPr/>
        </p:nvSpPr>
        <p:spPr>
          <a:xfrm>
            <a:off x="5726521" y="3154680"/>
            <a:ext cx="6096671" cy="548640"/>
          </a:xfrm>
          <a:prstGeom prst="roundRect">
            <a:avLst>
              <a:gd name="adj" fmla="val 10000"/>
            </a:avLst>
          </a:prstGeom>
          <a:solidFill>
            <a:srgbClr val="E9F7EE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63681" y="320040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45977" y="3469005"/>
            <a:ext cx="73152" cy="88011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4" name="Shape 52"/>
          <p:cNvSpPr/>
          <p:nvPr/>
        </p:nvSpPr>
        <p:spPr>
          <a:xfrm>
            <a:off x="6055705" y="3406140"/>
            <a:ext cx="73152" cy="15087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5" name="Shape 53"/>
          <p:cNvSpPr/>
          <p:nvPr/>
        </p:nvSpPr>
        <p:spPr>
          <a:xfrm>
            <a:off x="6165433" y="3330702"/>
            <a:ext cx="73152" cy="22631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384889" y="3209544"/>
            <a:ext cx="53102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384889" y="3429000"/>
            <a:ext cx="531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reads → confirmation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65760" y="3758184"/>
            <a:ext cx="4812121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 w="12700">
            <a:solidFill>
              <a:srgbClr val="F0C6C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920" y="3803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" y="3904488"/>
            <a:ext cx="256032" cy="256032"/>
          </a:xfrm>
          <a:prstGeom prst="gear6">
            <a:avLst/>
          </a:prstGeom>
          <a:solidFill>
            <a:srgbClr val="C0392B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24128" y="3813048"/>
            <a:ext cx="4025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Load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1024128" y="4032504"/>
            <a:ext cx="4025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camera streams at once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5269321" y="3922776"/>
            <a:ext cx="365760" cy="219456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64" name="Shape 62"/>
          <p:cNvSpPr/>
          <p:nvPr/>
        </p:nvSpPr>
        <p:spPr>
          <a:xfrm>
            <a:off x="5726521" y="3758184"/>
            <a:ext cx="6096671" cy="548640"/>
          </a:xfrm>
          <a:prstGeom prst="roundRect">
            <a:avLst>
              <a:gd name="adj" fmla="val 10000"/>
            </a:avLst>
          </a:prstGeom>
          <a:solidFill>
            <a:srgbClr val="E9F7EE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863681" y="3803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73409" y="3913632"/>
            <a:ext cx="237744" cy="237744"/>
          </a:xfrm>
          <a:prstGeom prst="donut">
            <a:avLst/>
          </a:prstGeom>
          <a:solidFill>
            <a:srgbClr val="1E8449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384889" y="3813048"/>
            <a:ext cx="53102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Processing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384889" y="4032504"/>
            <a:ext cx="531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only stable, relevant tracks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65760" y="4361688"/>
            <a:ext cx="4812121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 w="12700">
            <a:solidFill>
              <a:srgbClr val="F0C6C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" y="44074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8100000">
            <a:off x="630936" y="4517136"/>
            <a:ext cx="201168" cy="237744"/>
          </a:xfrm>
          <a:prstGeom prst="teardrop">
            <a:avLst/>
          </a:prstGeom>
          <a:solidFill>
            <a:srgbClr val="C0392B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1024128" y="4416552"/>
            <a:ext cx="4025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Coverage &amp; Sync</a:t>
            </a:r>
            <a:endParaRPr lang="en-US" sz="1300" dirty="0"/>
          </a:p>
        </p:txBody>
      </p:sp>
      <p:sp>
        <p:nvSpPr>
          <p:cNvPr id="73" name="Text 71"/>
          <p:cNvSpPr txBox="1"/>
          <p:nvPr/>
        </p:nvSpPr>
        <p:spPr>
          <a:xfrm>
            <a:off x="1024128" y="4636008"/>
            <a:ext cx="4025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• timestamps • blind spots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269321" y="4526280"/>
            <a:ext cx="365760" cy="219456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75" name="Shape 73"/>
          <p:cNvSpPr/>
          <p:nvPr/>
        </p:nvSpPr>
        <p:spPr>
          <a:xfrm>
            <a:off x="5726521" y="4361688"/>
            <a:ext cx="6096671" cy="548640"/>
          </a:xfrm>
          <a:prstGeom prst="roundRect">
            <a:avLst>
              <a:gd name="adj" fmla="val 10000"/>
            </a:avLst>
          </a:prstGeom>
          <a:solidFill>
            <a:srgbClr val="E9F7EE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63681" y="44074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09401" y="4681728"/>
            <a:ext cx="73152" cy="73152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/>
        </p:spPr>
      </p:sp>
      <p:sp>
        <p:nvSpPr>
          <p:cNvPr id="78" name="Shape 76"/>
          <p:cNvSpPr/>
          <p:nvPr/>
        </p:nvSpPr>
        <p:spPr>
          <a:xfrm>
            <a:off x="6028273" y="459028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1E8449"/>
          </a:solidFill>
          <a:ln/>
        </p:spPr>
      </p:sp>
      <p:sp>
        <p:nvSpPr>
          <p:cNvPr id="79" name="Shape 77"/>
          <p:cNvSpPr/>
          <p:nvPr/>
        </p:nvSpPr>
        <p:spPr>
          <a:xfrm>
            <a:off x="6142573" y="4466844"/>
            <a:ext cx="155448" cy="155448"/>
          </a:xfrm>
          <a:prstGeom prst="roundRect">
            <a:avLst>
              <a:gd name="adj" fmla="val 11765"/>
            </a:avLst>
          </a:prstGeom>
          <a:solidFill>
            <a:srgbClr val="1E8449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384889" y="4416552"/>
            <a:ext cx="53102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Deployment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6384889" y="4636008"/>
            <a:ext cx="531028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one node → expand zone by zone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365760" y="50566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ROADMAP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1356055" y="534009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430670" y="5414711"/>
            <a:ext cx="161666" cy="161666"/>
          </a:xfrm>
          <a:prstGeom prst="cube">
            <a:avLst/>
          </a:prstGeom>
          <a:solidFill>
            <a:srgbClr val="6B4FA0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11480" y="5788152"/>
            <a:ext cx="2200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2510942" y="5422392"/>
            <a:ext cx="292608" cy="146304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87" name="Shape 85"/>
          <p:cNvSpPr/>
          <p:nvPr/>
        </p:nvSpPr>
        <p:spPr>
          <a:xfrm>
            <a:off x="3610966" y="530352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6FB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3935" y="5441777"/>
            <a:ext cx="238110" cy="153619"/>
          </a:xfrm>
          <a:prstGeom prst="roundRect">
            <a:avLst>
              <a:gd name="adj" fmla="val 23810"/>
            </a:avLst>
          </a:prstGeom>
          <a:solidFill>
            <a:srgbClr val="2E6FBE"/>
          </a:solidFill>
          <a:ln/>
        </p:spPr>
      </p:sp>
      <p:sp>
        <p:nvSpPr>
          <p:cNvPr id="89" name="Shape 87"/>
          <p:cNvSpPr/>
          <p:nvPr/>
        </p:nvSpPr>
        <p:spPr>
          <a:xfrm>
            <a:off x="3760130" y="5395692"/>
            <a:ext cx="85720" cy="49158"/>
          </a:xfrm>
          <a:prstGeom prst="roundRect">
            <a:avLst>
              <a:gd name="adj" fmla="val 37202"/>
            </a:avLst>
          </a:prstGeom>
          <a:solidFill>
            <a:srgbClr val="2E6FBE"/>
          </a:solidFill>
          <a:ln/>
        </p:spPr>
      </p:sp>
      <p:sp>
        <p:nvSpPr>
          <p:cNvPr id="90" name="Shape 88"/>
          <p:cNvSpPr/>
          <p:nvPr/>
        </p:nvSpPr>
        <p:spPr>
          <a:xfrm>
            <a:off x="3749223" y="5464820"/>
            <a:ext cx="107533" cy="10753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1" name="Shape 89"/>
          <p:cNvSpPr/>
          <p:nvPr/>
        </p:nvSpPr>
        <p:spPr>
          <a:xfrm>
            <a:off x="3772266" y="5487863"/>
            <a:ext cx="61448" cy="61448"/>
          </a:xfrm>
          <a:prstGeom prst="ellipse">
            <a:avLst/>
          </a:prstGeom>
          <a:solidFill>
            <a:srgbClr val="2E6FBE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2702966" y="5788152"/>
            <a:ext cx="2200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Single-Camera Pilot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location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4802429" y="5422392"/>
            <a:ext cx="292608" cy="146304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94" name="Shape 92"/>
          <p:cNvSpPr/>
          <p:nvPr/>
        </p:nvSpPr>
        <p:spPr>
          <a:xfrm>
            <a:off x="5875020" y="5276088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22203" y="5449458"/>
            <a:ext cx="204094" cy="131674"/>
          </a:xfrm>
          <a:prstGeom prst="round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96" name="Shape 94"/>
          <p:cNvSpPr/>
          <p:nvPr/>
        </p:nvSpPr>
        <p:spPr>
          <a:xfrm>
            <a:off x="5987513" y="5409956"/>
            <a:ext cx="73474" cy="42136"/>
          </a:xfrm>
          <a:prstGeom prst="roundRect">
            <a:avLst>
              <a:gd name="adj" fmla="val 43402"/>
            </a:avLst>
          </a:prstGeom>
          <a:solidFill>
            <a:srgbClr val="1E8449"/>
          </a:solidFill>
          <a:ln/>
        </p:spPr>
      </p:sp>
      <p:sp>
        <p:nvSpPr>
          <p:cNvPr id="97" name="Shape 95"/>
          <p:cNvSpPr/>
          <p:nvPr/>
        </p:nvSpPr>
        <p:spPr>
          <a:xfrm>
            <a:off x="5978164" y="5469209"/>
            <a:ext cx="92172" cy="921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8" name="Shape 96"/>
          <p:cNvSpPr/>
          <p:nvPr/>
        </p:nvSpPr>
        <p:spPr>
          <a:xfrm>
            <a:off x="5997915" y="5488960"/>
            <a:ext cx="52669" cy="52669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99" name="Shape 97"/>
          <p:cNvSpPr/>
          <p:nvPr/>
        </p:nvSpPr>
        <p:spPr>
          <a:xfrm>
            <a:off x="6062655" y="5449458"/>
            <a:ext cx="204094" cy="131674"/>
          </a:xfrm>
          <a:prstGeom prst="roundRect">
            <a:avLst>
              <a:gd name="adj" fmla="val 27778"/>
            </a:avLst>
          </a:prstGeom>
          <a:solidFill>
            <a:srgbClr val="1E8449"/>
          </a:solidFill>
          <a:ln/>
        </p:spPr>
      </p:sp>
      <p:sp>
        <p:nvSpPr>
          <p:cNvPr id="100" name="Shape 98"/>
          <p:cNvSpPr/>
          <p:nvPr/>
        </p:nvSpPr>
        <p:spPr>
          <a:xfrm>
            <a:off x="6127965" y="5409956"/>
            <a:ext cx="73474" cy="42136"/>
          </a:xfrm>
          <a:prstGeom prst="roundRect">
            <a:avLst>
              <a:gd name="adj" fmla="val 43402"/>
            </a:avLst>
          </a:prstGeom>
          <a:solidFill>
            <a:srgbClr val="1E8449"/>
          </a:solidFill>
          <a:ln/>
        </p:spPr>
      </p:sp>
      <p:sp>
        <p:nvSpPr>
          <p:cNvPr id="101" name="Shape 99"/>
          <p:cNvSpPr/>
          <p:nvPr/>
        </p:nvSpPr>
        <p:spPr>
          <a:xfrm>
            <a:off x="6118616" y="5469209"/>
            <a:ext cx="92172" cy="921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138367" y="5488960"/>
            <a:ext cx="52669" cy="52669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4994453" y="5788152"/>
            <a:ext cx="2200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junction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093915" y="5422392"/>
            <a:ext cx="292608" cy="146304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148218" y="5257800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07B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224296" y="5495544"/>
            <a:ext cx="95098" cy="142646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338414" y="5395692"/>
            <a:ext cx="95098" cy="242499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452531" y="5452750"/>
            <a:ext cx="95098" cy="185440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7285939" y="5788152"/>
            <a:ext cx="2200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/ area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9385402" y="5422392"/>
            <a:ext cx="292608" cy="146304"/>
          </a:xfrm>
          <a:prstGeom prst="rightArrow">
            <a:avLst/>
          </a:prstGeom>
          <a:solidFill>
            <a:srgbClr val="9B9BB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21417" y="5239512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503347" y="5510906"/>
            <a:ext cx="53255" cy="13825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577084" y="5434096"/>
            <a:ext cx="53255" cy="215067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650821" y="5357287"/>
            <a:ext cx="53255" cy="2918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724559" y="5418734"/>
            <a:ext cx="53255" cy="23042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798296" y="5480182"/>
            <a:ext cx="53255" cy="168981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577426" y="5788152"/>
            <a:ext cx="2200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Rollout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deployment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11795760" y="652881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82F68955-7E18-E57B-8717-044D1D449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7" name="Title 1">
            <a:extLst>
              <a:ext uri="{FF2B5EF4-FFF2-40B4-BE49-F238E27FC236}">
                <a16:creationId xmlns:a16="http://schemas.microsoft.com/office/drawing/2014/main" id="{F391F786-6337-B324-86E8-72C0C2A71000}"/>
              </a:ext>
            </a:extLst>
          </p:cNvPr>
          <p:cNvSpPr txBox="1">
            <a:spLocks/>
          </p:cNvSpPr>
          <p:nvPr/>
        </p:nvSpPr>
        <p:spPr>
          <a:xfrm>
            <a:off x="593263" y="131491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29" name="Oval 128" descr="Your startup LOGO">
            <a:extLst>
              <a:ext uri="{FF2B5EF4-FFF2-40B4-BE49-F238E27FC236}">
                <a16:creationId xmlns:a16="http://schemas.microsoft.com/office/drawing/2014/main" id="{24A8058A-1F55-BA69-D16F-DE2E7A32565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D249D11-8F3D-294F-8A58-EDA3C8461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35" name="Slide Number Placeholder 5">
            <a:extLst>
              <a:ext uri="{FF2B5EF4-FFF2-40B4-BE49-F238E27FC236}">
                <a16:creationId xmlns:a16="http://schemas.microsoft.com/office/drawing/2014/main" id="{0A4DCD7D-C087-C490-4CE0-5B434E7E9D3F}"/>
              </a:ext>
            </a:extLst>
          </p:cNvPr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r">
              <a:defRPr/>
            </a:pPr>
            <a:fld id="{677C3CE7-23F7-4828-823C-E0205DF2CF97}" type="slidenum">
              <a:rPr lang="en-US" sz="1200" b="1" smtClean="0">
                <a:solidFill>
                  <a:prstClr val="white"/>
                </a:solidFill>
                <a:latin typeface="TradeGothic" pitchFamily="1" charset="0"/>
              </a:rPr>
              <a:pPr algn="r">
                <a:defRPr/>
              </a:pPr>
              <a:t>5</a:t>
            </a:fld>
            <a:endParaRPr lang="en-US" sz="1200" b="1" dirty="0">
              <a:solidFill>
                <a:prstClr val="white"/>
              </a:solidFill>
              <a:latin typeface="TradeGothic" pitchFamily="1" charset="0"/>
            </a:endParaRPr>
          </a:p>
        </p:txBody>
      </p:sp>
      <p:sp>
        <p:nvSpPr>
          <p:cNvPr id="136" name="Footer Placeholder 6">
            <a:extLst>
              <a:ext uri="{FF2B5EF4-FFF2-40B4-BE49-F238E27FC236}">
                <a16:creationId xmlns:a16="http://schemas.microsoft.com/office/drawing/2014/main" id="{0023051A-8F22-BF97-702F-3A8F48EA9893}"/>
              </a:ext>
            </a:extLst>
          </p:cNvPr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prstClr val="white"/>
                </a:solidFill>
                <a:latin typeface="TradeGothic"/>
                <a:ea typeface="+mn-ea"/>
              </a:rPr>
              <a:t>@SIH Idea submission- Template</a:t>
            </a:r>
            <a:endParaRPr lang="en-US" sz="1200" dirty="0">
              <a:solidFill>
                <a:prstClr val="white"/>
              </a:solidFill>
              <a:latin typeface="TradeGothic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2011680" y="12801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5669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Practical.  Scalable.  Real-World Impact.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744200" y="182880"/>
            <a:ext cx="548640" cy="548640"/>
          </a:xfrm>
          <a:prstGeom prst="ellipse">
            <a:avLst/>
          </a:prstGeom>
          <a:solidFill>
            <a:srgbClr val="E7EFFD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44200" y="182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274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</a:t>
            </a:r>
            <a:endParaRPr lang="en-US" sz="1300" dirty="0"/>
          </a:p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932688"/>
            <a:ext cx="7086600" cy="2331720"/>
          </a:xfrm>
          <a:prstGeom prst="roundRect">
            <a:avLst>
              <a:gd name="adj" fmla="val 3137"/>
            </a:avLst>
          </a:prstGeom>
          <a:solidFill>
            <a:srgbClr val="E7EFFD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0515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0040" y="1051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1024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THE FEASIBILITY OF THE IDEA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0040" y="1463040"/>
            <a:ext cx="22402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" y="1536192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" y="2057400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 • ByteTrack • EasyOCR • OpenCV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licensing cost. Built on widely supported open-source tools.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651760" y="1463040"/>
            <a:ext cx="22402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61488" y="1536192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Infrastructure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761488" y="2057400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existing CCTV camera infrastructure. No new hardware required for pilot deployment.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22402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93208" y="1536192"/>
            <a:ext cx="2020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93208" y="2057400"/>
            <a:ext cx="2020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Tracking → ANPR → Backend API → GIS Dashboard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independently deployable, enabling phased implementation and easy scaling.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6640" y="932688"/>
            <a:ext cx="4599432" cy="2331720"/>
          </a:xfrm>
          <a:prstGeom prst="roundRect">
            <a:avLst>
              <a:gd name="adj" fmla="val 3137"/>
            </a:avLst>
          </a:prstGeom>
          <a:solidFill>
            <a:srgbClr val="EFE9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0" y="1024128"/>
            <a:ext cx="4233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 EVIDENCE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52944" y="1435608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141B4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626096" y="1508760"/>
            <a:ext cx="12252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&amp; Tracking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552944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 &amp; Tracking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552944" y="2962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and persistent vehicle IDs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9034272" y="1435608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141B4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07424" y="1508760"/>
            <a:ext cx="12252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Output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9034272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 Output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9034272" y="2962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plate recognition with high accuracy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0515600" y="1435608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141B4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588752" y="1508760"/>
            <a:ext cx="12252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0" y="2962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trajectory and traffic visualization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82880" y="340156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CE9E9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3520440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004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3456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CHALLENGES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RISKS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3968496"/>
            <a:ext cx="32461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C6C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8912" y="39959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Video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38912" y="41513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Night, rain, glare, blur and poor camera angles can reduce detection and OCR accuracy.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0040" y="4443984"/>
            <a:ext cx="32461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C6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8912" y="44714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38912" y="46268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characters, dirt or damaged plates can lead to incorrect readings.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0040" y="4919472"/>
            <a:ext cx="32461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C6C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8912" y="49469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Load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38912" y="51023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multiple camera streams simultaneously can increase CPU/GPU requirements.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20040" y="5394960"/>
            <a:ext cx="3246120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C6C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38912" y="5422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Synchronization &amp; Coverage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38912" y="55778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camera positions, timestamps and blind spots can affect cross-camera trajectory reconstruction.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749040" y="4105656"/>
            <a:ext cx="274320" cy="146304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53" name="Shape 51"/>
          <p:cNvSpPr/>
          <p:nvPr/>
        </p:nvSpPr>
        <p:spPr>
          <a:xfrm>
            <a:off x="3749040" y="4581144"/>
            <a:ext cx="274320" cy="146304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54" name="Shape 52"/>
          <p:cNvSpPr/>
          <p:nvPr/>
        </p:nvSpPr>
        <p:spPr>
          <a:xfrm>
            <a:off x="3749040" y="5056632"/>
            <a:ext cx="274320" cy="146304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55" name="Shape 53"/>
          <p:cNvSpPr/>
          <p:nvPr/>
        </p:nvSpPr>
        <p:spPr>
          <a:xfrm>
            <a:off x="3749040" y="5532120"/>
            <a:ext cx="274320" cy="146304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56" name="Shape 54"/>
          <p:cNvSpPr/>
          <p:nvPr/>
        </p:nvSpPr>
        <p:spPr>
          <a:xfrm>
            <a:off x="4114800" y="3401568"/>
            <a:ext cx="7891272" cy="2286000"/>
          </a:xfrm>
          <a:prstGeom prst="roundRect">
            <a:avLst>
              <a:gd name="adj" fmla="val 3200"/>
            </a:avLst>
          </a:prstGeom>
          <a:solidFill>
            <a:srgbClr val="E5F7EC"/>
          </a:solidFill>
          <a:ln/>
        </p:spPr>
      </p:sp>
      <p:sp>
        <p:nvSpPr>
          <p:cNvPr id="57" name="Shape 55"/>
          <p:cNvSpPr/>
          <p:nvPr/>
        </p:nvSpPr>
        <p:spPr>
          <a:xfrm>
            <a:off x="4251960" y="3520440"/>
            <a:ext cx="310896" cy="3108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251960" y="3520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4645152" y="3538728"/>
            <a:ext cx="7159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FOR OVERCOMING THESE CHALLENGES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251960" y="3968496"/>
            <a:ext cx="4709709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370832" y="3995928"/>
            <a:ext cx="4481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Filtering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4370832" y="4151376"/>
            <a:ext cx="4481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sharpness, contrast and size checks before sending plate crops to OCR.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007389" y="3968496"/>
            <a:ext cx="2861523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80541" y="4087368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080541" y="40873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318285" y="3995928"/>
            <a:ext cx="247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detection and OCR accuracy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251960" y="4443984"/>
            <a:ext cx="4709709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370832" y="4471416"/>
            <a:ext cx="4481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Voting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370832" y="4626864"/>
            <a:ext cx="4481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OCR observations of the same tracked vehicle before confirming the plate.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9007389" y="4443984"/>
            <a:ext cx="2861523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080541" y="4562856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080541" y="4562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9318285" y="4471416"/>
            <a:ext cx="247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reads and increases reliability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251960" y="4919472"/>
            <a:ext cx="4709709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4370832" y="4946904"/>
            <a:ext cx="4481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Processing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4370832" y="5102352"/>
            <a:ext cx="4481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expensive plate/OCR processing only on stable and relevant vehicle tracks.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9007389" y="4919472"/>
            <a:ext cx="2861523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80541" y="5038344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9080541" y="5038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9318285" y="4946904"/>
            <a:ext cx="247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compute usage and enables real-time performance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251960" y="5394960"/>
            <a:ext cx="4709709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370832" y="5422392"/>
            <a:ext cx="44811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Deployment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4370832" y="5577840"/>
            <a:ext cx="448110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single camera → multi-camera → zone → city-wide, while calibrating camera locations and timestamps.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007389" y="5394960"/>
            <a:ext cx="2861523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EE7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80541" y="5513832"/>
            <a:ext cx="182880" cy="18288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9080541" y="55138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9318285" y="5422392"/>
            <a:ext cx="247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accurate tracking and scalable deployment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82880" y="5870448"/>
            <a:ext cx="11823192" cy="713232"/>
          </a:xfrm>
          <a:prstGeom prst="roundRect">
            <a:avLst>
              <a:gd name="adj" fmla="val 10256"/>
            </a:avLst>
          </a:prstGeom>
          <a:solidFill>
            <a:srgbClr val="E7EFFD"/>
          </a:solidFill>
          <a:ln/>
        </p:spPr>
      </p:sp>
      <p:sp>
        <p:nvSpPr>
          <p:cNvPr id="89" name="Shape 87"/>
          <p:cNvSpPr/>
          <p:nvPr/>
        </p:nvSpPr>
        <p:spPr>
          <a:xfrm>
            <a:off x="301752" y="596188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301752" y="5961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40080" y="5897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ROADMAP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640080" y="60899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city-wide impact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3715207" y="5943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4FA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715207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3063240" y="6327648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</a:t>
            </a:r>
            <a:r>
              <a:rPr lang="en-US" sz="700" i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(Current Stage)</a:t>
            </a:r>
            <a:endParaRPr lang="en-US" sz="800" dirty="0"/>
          </a:p>
        </p:txBody>
      </p:sp>
      <p:sp>
        <p:nvSpPr>
          <p:cNvPr id="96" name="Text 94"/>
          <p:cNvSpPr txBox="1"/>
          <p:nvPr/>
        </p:nvSpPr>
        <p:spPr>
          <a:xfrm>
            <a:off x="3063240" y="6437376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camera, end-to-end pipeline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4760366" y="6062472"/>
            <a:ext cx="182880" cy="128016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98" name="Shape 96"/>
          <p:cNvSpPr/>
          <p:nvPr/>
        </p:nvSpPr>
        <p:spPr>
          <a:xfrm>
            <a:off x="5476342" y="5943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BE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476342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4824374" y="6327648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Camera Pilot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4824374" y="6437376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at one location to validate performance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6521501" y="6062472"/>
            <a:ext cx="182880" cy="128016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237476" y="5943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237476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85509" y="6327648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</a:t>
            </a:r>
            <a:endParaRPr lang="en-US" sz="800" dirty="0"/>
          </a:p>
        </p:txBody>
      </p:sp>
      <p:sp>
        <p:nvSpPr>
          <p:cNvPr id="106" name="Text 104"/>
          <p:cNvSpPr txBox="1"/>
          <p:nvPr/>
        </p:nvSpPr>
        <p:spPr>
          <a:xfrm>
            <a:off x="6585509" y="6437376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junction, several nodes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8282635" y="6062472"/>
            <a:ext cx="182880" cy="128016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998610" y="5943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07B1A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998610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8346643" y="6327648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0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Deployment</a:t>
            </a:r>
            <a:endParaRPr lang="en-US" sz="800" dirty="0"/>
          </a:p>
        </p:txBody>
      </p:sp>
      <p:sp>
        <p:nvSpPr>
          <p:cNvPr id="111" name="Text 109"/>
          <p:cNvSpPr txBox="1"/>
          <p:nvPr/>
        </p:nvSpPr>
        <p:spPr>
          <a:xfrm>
            <a:off x="8346643" y="6437376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district / area</a:t>
            </a:r>
            <a:endParaRPr lang="en-US" sz="650" dirty="0"/>
          </a:p>
        </p:txBody>
      </p:sp>
      <p:sp>
        <p:nvSpPr>
          <p:cNvPr id="112" name="Shape 110"/>
          <p:cNvSpPr/>
          <p:nvPr/>
        </p:nvSpPr>
        <p:spPr>
          <a:xfrm>
            <a:off x="10043770" y="6062472"/>
            <a:ext cx="182880" cy="128016"/>
          </a:xfrm>
          <a:prstGeom prst="rightArrow">
            <a:avLst/>
          </a:prstGeom>
          <a:solidFill>
            <a:srgbClr val="B9B9C6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759745" y="59436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0759745" y="5943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10107778" y="6327648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 Rollout</a:t>
            </a:r>
            <a:endParaRPr lang="en-US" sz="800" dirty="0"/>
          </a:p>
        </p:txBody>
      </p:sp>
      <p:sp>
        <p:nvSpPr>
          <p:cNvPr id="116" name="Text 114"/>
          <p:cNvSpPr txBox="1"/>
          <p:nvPr/>
        </p:nvSpPr>
        <p:spPr>
          <a:xfrm>
            <a:off x="10107778" y="6437376"/>
            <a:ext cx="16696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deployment across the city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0" y="6656832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Roads   |   Smarter Cities   |   Better Tomorrow</a:t>
            </a:r>
            <a:endParaRPr lang="en-US" sz="1000" dirty="0"/>
          </a:p>
        </p:txBody>
      </p:sp>
      <p:sp>
        <p:nvSpPr>
          <p:cNvPr id="119" name="Text 117"/>
          <p:cNvSpPr txBox="1"/>
          <p:nvPr/>
        </p:nvSpPr>
        <p:spPr>
          <a:xfrm>
            <a:off x="11795760" y="665683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9884CEC-06E8-F409-2C52-75238C45E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C35A157-E5BF-B0FB-0C07-C4D5D72FC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5071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27" name="Oval 126" descr="Your startup LOGO">
            <a:extLst>
              <a:ext uri="{FF2B5EF4-FFF2-40B4-BE49-F238E27FC236}">
                <a16:creationId xmlns:a16="http://schemas.microsoft.com/office/drawing/2014/main" id="{43FAD62C-D009-37B3-0DCB-8222E745B8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193" y="1306514"/>
            <a:ext cx="6560088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/>
                </a:solidFill>
              </a:rPr>
              <a:t>Operational Impact</a:t>
            </a:r>
          </a:p>
          <a:p>
            <a:r>
              <a:rPr lang="en-IN" b="1" dirty="0"/>
              <a:t>Faster Vehicle Search</a:t>
            </a:r>
            <a:br>
              <a:rPr lang="en-IN" dirty="0"/>
            </a:br>
            <a:r>
              <a:rPr lang="en-IN" dirty="0"/>
              <a:t>Reduces manual CCTV footage review and accelerates vehicle identification.</a:t>
            </a:r>
          </a:p>
          <a:p>
            <a:r>
              <a:rPr lang="en-IN" b="1" dirty="0"/>
              <a:t>Cross-Camera Tracking</a:t>
            </a:r>
            <a:br>
              <a:rPr lang="en-IN" dirty="0"/>
            </a:br>
            <a:r>
              <a:rPr lang="en-IN" dirty="0"/>
              <a:t>Connects vehicle movement across multiple surveillance locations.</a:t>
            </a:r>
          </a:p>
          <a:p>
            <a:r>
              <a:rPr lang="en-IN" b="1" dirty="0"/>
              <a:t>Faster Emergency &amp; Law Enforcement Response</a:t>
            </a:r>
            <a:br>
              <a:rPr lang="en-IN" dirty="0"/>
            </a:br>
            <a:r>
              <a:rPr lang="en-IN" dirty="0"/>
              <a:t>Enables quicker investigation and identification during incidents.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/>
                </a:solidFill>
              </a:rPr>
              <a:t>Traffic &amp; Urban Impact</a:t>
            </a:r>
          </a:p>
          <a:p>
            <a:r>
              <a:rPr lang="en-IN" b="1" dirty="0"/>
              <a:t>Real-Time Traffic Insights</a:t>
            </a:r>
            <a:br>
              <a:rPr lang="en-IN" dirty="0"/>
            </a:br>
            <a:r>
              <a:rPr lang="en-IN" dirty="0"/>
              <a:t>Improves traffic monitoring and decision-making.</a:t>
            </a:r>
          </a:p>
          <a:p>
            <a:r>
              <a:rPr lang="en-IN" b="1" dirty="0"/>
              <a:t>Reduced Traffic Congestion</a:t>
            </a:r>
            <a:br>
              <a:rPr lang="en-IN" dirty="0"/>
            </a:br>
            <a:r>
              <a:rPr lang="en-IN" dirty="0"/>
              <a:t>Supports smoother traffic flow through data-driven insights.</a:t>
            </a:r>
          </a:p>
          <a:p>
            <a:r>
              <a:rPr lang="en-IN" b="1" dirty="0"/>
              <a:t>Smarter City Planning</a:t>
            </a:r>
            <a:br>
              <a:rPr lang="en-IN" dirty="0"/>
            </a:br>
            <a:r>
              <a:rPr lang="en-IN" dirty="0"/>
              <a:t>Provides traffic movement data for better infrastructure planning.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0045" y="242518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0E6F4B-A594-9B4F-05E0-FB787E50C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311204"/>
              </p:ext>
            </p:extLst>
          </p:nvPr>
        </p:nvGraphicFramePr>
        <p:xfrm>
          <a:off x="7023030" y="1247819"/>
          <a:ext cx="5006906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03453">
                  <a:extLst>
                    <a:ext uri="{9D8B030D-6E8A-4147-A177-3AD203B41FA5}">
                      <a16:colId xmlns:a16="http://schemas.microsoft.com/office/drawing/2014/main" val="1389830145"/>
                    </a:ext>
                  </a:extLst>
                </a:gridCol>
                <a:gridCol w="2503453">
                  <a:extLst>
                    <a:ext uri="{9D8B030D-6E8A-4147-A177-3AD203B41FA5}">
                      <a16:colId xmlns:a16="http://schemas.microsoft.com/office/drawing/2014/main" val="3436239358"/>
                    </a:ext>
                  </a:extLst>
                </a:gridCol>
              </a:tblGrid>
              <a:tr h="3474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Impact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0073414"/>
                  </a:ext>
                </a:extLst>
              </a:tr>
              <a:tr h="112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Social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Safer roads through faster vehicle identification and incident response.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49302"/>
                  </a:ext>
                </a:extLst>
              </a:tr>
              <a:tr h="1650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Economic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Data-driven traffic and infrastructure planning, reducing time and resources required for manual CCTV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091452"/>
                  </a:ext>
                </a:extLst>
              </a:tr>
              <a:tr h="1129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Environmental Benefit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Smoother traffic flow can reduce unnecessary vehicle idling and associated emissions.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955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7A078CD-F265-FFCD-81C7-80A306869A60}"/>
              </a:ext>
            </a:extLst>
          </p:cNvPr>
          <p:cNvSpPr/>
          <p:nvPr/>
        </p:nvSpPr>
        <p:spPr>
          <a:xfrm>
            <a:off x="502192" y="1247819"/>
            <a:ext cx="6297441" cy="448056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66728"/>
            <a:ext cx="5486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/>
              <a:t>1. </a:t>
            </a:r>
            <a:r>
              <a:rPr lang="en-IN" sz="1600" b="1" dirty="0" err="1"/>
              <a:t>ByteTrack</a:t>
            </a:r>
            <a:r>
              <a:rPr lang="en-IN" sz="1600" b="1" dirty="0"/>
              <a:t> Research Paper</a:t>
            </a:r>
          </a:p>
          <a:p>
            <a:r>
              <a:rPr lang="en-IN" sz="1600" b="1" dirty="0" err="1"/>
              <a:t>ByteTrack</a:t>
            </a:r>
            <a:r>
              <a:rPr lang="en-IN" sz="1600" b="1" dirty="0"/>
              <a:t>: Multi-Object Tracking by Associating Every Detection Box</a:t>
            </a:r>
            <a:br>
              <a:rPr lang="en-IN" sz="1600" dirty="0"/>
            </a:br>
            <a:r>
              <a:rPr lang="en-IN" sz="1600" dirty="0"/>
              <a:t>Zhang et al., ECCV 2022.</a:t>
            </a:r>
          </a:p>
          <a:p>
            <a:r>
              <a:rPr lang="en-IN" sz="1600" dirty="0" err="1">
                <a:hlinkClick r:id="rId3"/>
              </a:rPr>
              <a:t>ByteTrack</a:t>
            </a:r>
            <a:r>
              <a:rPr lang="en-IN" sz="1600" dirty="0">
                <a:hlinkClick r:id="rId3"/>
              </a:rPr>
              <a:t> Official Paper &amp; Repository</a:t>
            </a:r>
            <a:endParaRPr lang="en-IN" sz="1600" dirty="0"/>
          </a:p>
          <a:p>
            <a:r>
              <a:rPr lang="en-IN" sz="1600" dirty="0"/>
              <a:t>This is a proper academic reference and should definitely be included. </a:t>
            </a:r>
          </a:p>
          <a:p>
            <a:r>
              <a:rPr lang="en-IN" sz="1600" b="1" dirty="0"/>
              <a:t>2. </a:t>
            </a:r>
            <a:r>
              <a:rPr lang="en-IN" sz="1600" b="1" dirty="0" err="1"/>
              <a:t>Ultralytics</a:t>
            </a:r>
            <a:r>
              <a:rPr lang="en-IN" sz="1600" b="1" dirty="0"/>
              <a:t> YOLO11</a:t>
            </a:r>
          </a:p>
          <a:p>
            <a:r>
              <a:rPr lang="en-IN" sz="1600" dirty="0"/>
              <a:t>Official documentation for the vehicle detection model used in your project.</a:t>
            </a:r>
          </a:p>
          <a:p>
            <a:r>
              <a:rPr lang="en-IN" sz="1600" dirty="0" err="1">
                <a:hlinkClick r:id="rId4"/>
              </a:rPr>
              <a:t>Ultralytics</a:t>
            </a:r>
            <a:r>
              <a:rPr lang="en-IN" sz="1600" dirty="0">
                <a:hlinkClick r:id="rId4"/>
              </a:rPr>
              <a:t> YOLO11 Documentation</a:t>
            </a:r>
            <a:endParaRPr lang="en-IN" sz="1600" dirty="0"/>
          </a:p>
          <a:p>
            <a:r>
              <a:rPr lang="en-IN" sz="1600" dirty="0"/>
              <a:t>Note: YOLO11 does not currently have a formal standalone research paper; </a:t>
            </a:r>
            <a:r>
              <a:rPr lang="en-IN" sz="1600" dirty="0" err="1"/>
              <a:t>Ultralytics</a:t>
            </a:r>
            <a:r>
              <a:rPr lang="en-IN" sz="1600" dirty="0"/>
              <a:t> provides its official software citation. </a:t>
            </a:r>
          </a:p>
          <a:p>
            <a:r>
              <a:rPr lang="en-IN" sz="1600" b="1" dirty="0"/>
              <a:t>3. </a:t>
            </a:r>
            <a:r>
              <a:rPr lang="en-IN" sz="1600" b="1" dirty="0" err="1"/>
              <a:t>EasyOCR</a:t>
            </a:r>
            <a:endParaRPr lang="en-IN" sz="1600" b="1" dirty="0"/>
          </a:p>
          <a:p>
            <a:r>
              <a:rPr lang="en-IN" sz="1600" dirty="0"/>
              <a:t>Official repository and documentation.</a:t>
            </a:r>
          </a:p>
          <a:p>
            <a:r>
              <a:rPr lang="en-IN" sz="1600" dirty="0" err="1">
                <a:hlinkClick r:id="rId5"/>
              </a:rPr>
              <a:t>EasyOCR</a:t>
            </a:r>
            <a:r>
              <a:rPr lang="en-IN" sz="1600" dirty="0">
                <a:hlinkClick r:id="rId5"/>
              </a:rPr>
              <a:t> Official Repository</a:t>
            </a:r>
            <a:endParaRPr lang="en-IN" sz="1600" dirty="0"/>
          </a:p>
          <a:p>
            <a:r>
              <a:rPr lang="en-IN" sz="1600" b="1" dirty="0"/>
              <a:t>4. OpenCV</a:t>
            </a:r>
          </a:p>
          <a:p>
            <a:r>
              <a:rPr lang="en-IN" sz="1600" dirty="0"/>
              <a:t>Official computer vision documentation.</a:t>
            </a:r>
          </a:p>
          <a:p>
            <a:r>
              <a:rPr lang="en-IN" sz="1600" dirty="0">
                <a:hlinkClick r:id="rId6"/>
              </a:rPr>
              <a:t>OpenCV Official Documentation</a:t>
            </a:r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3DC923EA-2B9E-8688-99BE-FAC3363AFC5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340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</a:t>
            </a:r>
          </a:p>
          <a:p>
            <a:pPr algn="ctr"/>
            <a:r>
              <a:rPr lang="en-US" dirty="0"/>
              <a:t> INNOVISION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27BD88-3AC6-821A-90B6-E56A760DB872}"/>
              </a:ext>
            </a:extLst>
          </p:cNvPr>
          <p:cNvSpPr txBox="1"/>
          <p:nvPr/>
        </p:nvSpPr>
        <p:spPr>
          <a:xfrm>
            <a:off x="6510528" y="1435608"/>
            <a:ext cx="51755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REFERENCES</a:t>
            </a:r>
          </a:p>
          <a:p>
            <a:r>
              <a:rPr lang="en-IN" b="1" dirty="0"/>
              <a:t>[1]</a:t>
            </a:r>
            <a:r>
              <a:rPr lang="en-IN" dirty="0"/>
              <a:t> Zhang et al. — </a:t>
            </a:r>
            <a:r>
              <a:rPr lang="en-IN" i="1" dirty="0" err="1"/>
              <a:t>ByteTrack</a:t>
            </a:r>
            <a:r>
              <a:rPr lang="en-IN" i="1" dirty="0"/>
              <a:t>: Multi-Object Tracking by Associating Every Detection Box</a:t>
            </a:r>
            <a:r>
              <a:rPr lang="en-IN" dirty="0"/>
              <a:t>, ECCV 2022.</a:t>
            </a:r>
          </a:p>
          <a:p>
            <a:r>
              <a:rPr lang="en-IN" b="1" dirty="0"/>
              <a:t>[2]</a:t>
            </a:r>
            <a:r>
              <a:rPr lang="en-IN" dirty="0"/>
              <a:t> </a:t>
            </a:r>
            <a:r>
              <a:rPr lang="en-IN" dirty="0" err="1"/>
              <a:t>Ultralytics</a:t>
            </a:r>
            <a:r>
              <a:rPr lang="en-IN" dirty="0"/>
              <a:t> — </a:t>
            </a:r>
            <a:r>
              <a:rPr lang="en-IN" i="1" dirty="0"/>
              <a:t>YOLO11: Real-Time Object Detection Documentation</a:t>
            </a:r>
            <a:r>
              <a:rPr lang="en-IN" dirty="0"/>
              <a:t>, 2024.</a:t>
            </a:r>
          </a:p>
          <a:p>
            <a:r>
              <a:rPr lang="en-IN" b="1" dirty="0"/>
              <a:t>[3]</a:t>
            </a:r>
            <a:r>
              <a:rPr lang="en-IN" dirty="0"/>
              <a:t> </a:t>
            </a:r>
            <a:r>
              <a:rPr lang="en-IN" dirty="0" err="1"/>
              <a:t>EasyOCR</a:t>
            </a:r>
            <a:r>
              <a:rPr lang="en-IN" dirty="0"/>
              <a:t> — </a:t>
            </a:r>
            <a:r>
              <a:rPr lang="en-IN" i="1" dirty="0"/>
              <a:t>Open-Source Optical Character Recognition Framework.</a:t>
            </a:r>
            <a:endParaRPr lang="en-IN" dirty="0"/>
          </a:p>
          <a:p>
            <a:r>
              <a:rPr lang="en-IN" b="1" dirty="0"/>
              <a:t>[4]</a:t>
            </a:r>
            <a:r>
              <a:rPr lang="en-IN" dirty="0"/>
              <a:t> OpenCV — </a:t>
            </a:r>
            <a:r>
              <a:rPr lang="en-IN" i="1" dirty="0"/>
              <a:t>Open Source Computer Vision Library.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8686</TotalTime>
  <Words>1463</Words>
  <Application>Microsoft Office PowerPoint</Application>
  <PresentationFormat>Widescreen</PresentationFormat>
  <Paragraphs>264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IDEA/APPROACH DETAILS</vt:lpstr>
      <vt:lpstr>TECHNICAL APPROACH</vt:lpstr>
      <vt:lpstr>FEASIBILITY AND VIABILITY</vt:lpstr>
      <vt:lpstr>PowerPoint Presentation</vt:lpstr>
      <vt:lpstr>PowerPoint Presentation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Subhrajeet Sahu</cp:lastModifiedBy>
  <cp:revision>161</cp:revision>
  <dcterms:created xsi:type="dcterms:W3CDTF">2013-12-12T18:46:50Z</dcterms:created>
  <dcterms:modified xsi:type="dcterms:W3CDTF">2026-09-06T18:46:13Z</dcterms:modified>
  <cp:category/>
</cp:coreProperties>
</file>